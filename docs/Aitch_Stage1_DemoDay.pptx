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4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6305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840480" cy="3840480"/>
          </a:xfrm>
          <a:prstGeom prst="ellipse">
            <a:avLst/>
          </a:prstGeom>
          <a:solidFill>
            <a:srgbClr val="C8102E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DEMO DAY  ·  OPENCLAW SUMMER BUILDER BOOTCAMP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Aitch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8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Pay-Per-Session AI Tutoring Agent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agent with its own on-chain identity and wallet — paid per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in USDC.e, zero human intervention below the spend cap.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1024128" cy="384048"/>
          </a:xfrm>
          <a:prstGeom prst="roundRect">
            <a:avLst>
              <a:gd name="adj" fmla="val 19048"/>
            </a:avLst>
          </a:prstGeom>
          <a:solidFill>
            <a:srgbClr val="16305C"/>
          </a:solidFill>
          <a:ln w="12700">
            <a:solidFill>
              <a:srgbClr val="3E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709160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8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011680" y="4709160"/>
            <a:ext cx="1024128" cy="384048"/>
          </a:xfrm>
          <a:prstGeom prst="roundRect">
            <a:avLst>
              <a:gd name="adj" fmla="val 19048"/>
            </a:avLst>
          </a:prstGeom>
          <a:solidFill>
            <a:srgbClr val="16305C"/>
          </a:solidFill>
          <a:ln w="12700">
            <a:solidFill>
              <a:srgbClr val="3E5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4709160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8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0" y="470916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16305C"/>
          </a:solidFill>
          <a:ln w="12700">
            <a:solidFill>
              <a:srgbClr val="3E5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470916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8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005072" y="4709160"/>
            <a:ext cx="2080260" cy="384048"/>
          </a:xfrm>
          <a:prstGeom prst="roundRect">
            <a:avLst>
              <a:gd name="adj" fmla="val 19048"/>
            </a:avLst>
          </a:prstGeom>
          <a:solidFill>
            <a:srgbClr val="16305C"/>
          </a:solidFill>
          <a:ln w="12700">
            <a:solidFill>
              <a:srgbClr val="3E5A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05072" y="4709160"/>
            <a:ext cx="20802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8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GOAT Mainnet · 2345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Harshil Suthar   ·   Toronto Metropolitan University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8004scan.io/agents/goat/77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get raw lecture material, not study material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7FC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00200"/>
            <a:ext cx="10241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hours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mechanical prep per course, per week — transcribing audio, matching it to slides, writing notes — before any actual studying starts.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3447288" cy="2880360"/>
          </a:xfrm>
          <a:prstGeom prst="roundRect">
            <a:avLst>
              <a:gd name="adj" fmla="val 285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6305C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3493008"/>
            <a:ext cx="658368" cy="658368"/>
          </a:xfrm>
          <a:prstGeom prst="ellipse">
            <a:avLst/>
          </a:prstGeom>
          <a:solidFill>
            <a:srgbClr val="16305C"/>
          </a:solidFill>
          <a:ln/>
        </p:spPr>
      </p:sp>
      <p:pic>
        <p:nvPicPr>
          <p:cNvPr id="8" name="Image 0" descr="icons/c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864" y="3664184"/>
            <a:ext cx="316017" cy="31601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2688" y="429768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Unsearchable slides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932688" y="4773168"/>
            <a:ext cx="28620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Decks are exported as images with no text layer — nothing is keyword-searchable or quotable into notes.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43400" y="3200400"/>
            <a:ext cx="3447288" cy="2880360"/>
          </a:xfrm>
          <a:prstGeom prst="roundRect">
            <a:avLst>
              <a:gd name="adj" fmla="val 285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6305C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36008" y="3493008"/>
            <a:ext cx="658368" cy="658368"/>
          </a:xfrm>
          <a:prstGeom prst="ellipse">
            <a:avLst/>
          </a:prstGeom>
          <a:solidFill>
            <a:srgbClr val="16305C"/>
          </a:solidFill>
          <a:ln/>
        </p:spPr>
      </p:sp>
      <p:pic>
        <p:nvPicPr>
          <p:cNvPr id="13" name="Image 1" descr="icons/bo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184" y="3664184"/>
            <a:ext cx="316017" cy="31601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36008" y="429768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AI tutors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636008" y="4773168"/>
            <a:ext cx="28620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chatbot hasn't heard this lecture or seen this deck — it can't tutor on what's actually being tested.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46720" y="3200400"/>
            <a:ext cx="3447288" cy="2880360"/>
          </a:xfrm>
          <a:prstGeom prst="roundRect">
            <a:avLst>
              <a:gd name="adj" fmla="val 285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6305C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39328" y="3493008"/>
            <a:ext cx="658368" cy="658368"/>
          </a:xfrm>
          <a:prstGeom prst="ellipse">
            <a:avLst/>
          </a:prstGeom>
          <a:solidFill>
            <a:srgbClr val="16305C"/>
          </a:solidFill>
          <a:ln/>
        </p:spPr>
      </p:sp>
      <p:pic>
        <p:nvPicPr>
          <p:cNvPr id="18" name="Image 2" descr="icons/creditcar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0504" y="3664184"/>
            <a:ext cx="316017" cy="31601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39328" y="429768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Wrong-shaped pricing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8339328" y="4773168"/>
            <a:ext cx="28620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Tutoring subscriptions charge $15–40/mo for help most students need once or twice per topic.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AITCH — Pay-Per-Session AI Tutoring Agent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Telegram agent that turns this week's lecture into a study pack — on demand, per session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2331720" cy="1737360"/>
          </a:xfrm>
          <a:prstGeom prst="roundRect">
            <a:avLst>
              <a:gd name="adj" fmla="val 473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6305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32204" y="2167128"/>
            <a:ext cx="621792" cy="621792"/>
          </a:xfrm>
          <a:prstGeom prst="ellipse">
            <a:avLst/>
          </a:prstGeom>
          <a:solidFill>
            <a:srgbClr val="16305C"/>
          </a:solidFill>
          <a:ln/>
        </p:spPr>
      </p:sp>
      <p:pic>
        <p:nvPicPr>
          <p:cNvPr id="6" name="Image 0" descr="icons/filetex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3870" y="2328794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05256" y="2880360"/>
            <a:ext cx="20756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audio (.m4a)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slide deck (.pptx)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05256" y="3392424"/>
            <a:ext cx="2075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SUPPLIES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127248" y="2578608"/>
            <a:ext cx="3474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3493008" y="1965960"/>
            <a:ext cx="2331720" cy="1737360"/>
          </a:xfrm>
          <a:prstGeom prst="roundRect">
            <a:avLst>
              <a:gd name="adj" fmla="val 473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6305C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7972" y="2167128"/>
            <a:ext cx="621792" cy="621792"/>
          </a:xfrm>
          <a:prstGeom prst="ellipse">
            <a:avLst/>
          </a:prstGeom>
          <a:solidFill>
            <a:srgbClr val="16305C"/>
          </a:solidFill>
          <a:ln/>
        </p:spPr>
      </p:sp>
      <p:pic>
        <p:nvPicPr>
          <p:cNvPr id="12" name="Image 1" descr="icons/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9638" y="2328794"/>
            <a:ext cx="298460" cy="298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1024" y="2880360"/>
            <a:ext cx="20756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+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OCR'd searchable PDF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621024" y="3392424"/>
            <a:ext cx="2075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5843016" y="2578608"/>
            <a:ext cx="3474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6208776" y="1965960"/>
            <a:ext cx="2331720" cy="1737360"/>
          </a:xfrm>
          <a:prstGeom prst="roundRect">
            <a:avLst>
              <a:gd name="adj" fmla="val 473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6305C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63740" y="2167128"/>
            <a:ext cx="621792" cy="621792"/>
          </a:xfrm>
          <a:prstGeom prst="ellipse">
            <a:avLst/>
          </a:prstGeom>
          <a:solidFill>
            <a:srgbClr val="16305C"/>
          </a:solidFill>
          <a:ln/>
        </p:spPr>
      </p:sp>
      <p:pic>
        <p:nvPicPr>
          <p:cNvPr id="18" name="Image 2" descr="icons/bo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5406" y="2328794"/>
            <a:ext cx="298460" cy="298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36792" y="2880360"/>
            <a:ext cx="20756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LLM-structured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336792" y="3392424"/>
            <a:ext cx="2075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8558784" y="2578608"/>
            <a:ext cx="3474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8924544" y="1965960"/>
            <a:ext cx="2331720" cy="1737360"/>
          </a:xfrm>
          <a:prstGeom prst="roundRect">
            <a:avLst>
              <a:gd name="adj" fmla="val 4737"/>
            </a:avLst>
          </a:prstGeom>
          <a:solidFill>
            <a:srgbClr val="16305C"/>
          </a:solidFill>
          <a:ln/>
          <a:effectLst>
            <a:outerShdw sx="100000" sy="100000" kx="0" ky="0" algn="bl" rotWithShape="0" blurRad="101600" dist="38100" dir="5400000">
              <a:srgbClr val="16305C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779508" y="2167128"/>
            <a:ext cx="621792" cy="621792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4" name="Image 3" descr="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1174" y="2328794"/>
            <a:ext cx="298460" cy="2984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52560" y="2880360"/>
            <a:ext cx="20756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master PDF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live tutoring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9052560" y="3392424"/>
            <a:ext cx="2075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TO STUDENT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777240" y="416052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D8E3F5"/>
          </a:solidFill>
          <a:ln/>
        </p:spPr>
      </p:sp>
      <p:sp>
        <p:nvSpPr>
          <p:cNvPr id="28" name="Shape 22"/>
          <p:cNvSpPr/>
          <p:nvPr/>
        </p:nvSpPr>
        <p:spPr>
          <a:xfrm>
            <a:off x="1051560" y="4389120"/>
            <a:ext cx="594360" cy="594360"/>
          </a:xfrm>
          <a:prstGeom prst="ellipse">
            <a:avLst/>
          </a:prstGeom>
          <a:solidFill>
            <a:srgbClr val="16305C"/>
          </a:solidFill>
          <a:ln/>
        </p:spPr>
      </p:sp>
      <p:pic>
        <p:nvPicPr>
          <p:cNvPr id="29" name="Image 4" descr="icons/zap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6094" y="4543654"/>
            <a:ext cx="285293" cy="285293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874520" y="4160520"/>
            <a:ext cx="9326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per session in USDC.e via x402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no subscription. Pricing is disclosed for free, before any charge.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777240" y="54406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Study-pack engine: the existing CPOL507 GitHub Actions pipeline, wired behind the payment gate.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AITCH — Pay-Per-Session AI Tutoring Agent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never moves money — it shells out to a deterministic settlement engine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E3A5F"/>
          </a:solidFill>
          <a:ln w="12700">
            <a:solidFill>
              <a:srgbClr val="3E5A8C"/>
            </a:solidFill>
            <a:prstDash val="solid"/>
          </a:ln>
        </p:spPr>
      </p:sp>
      <p:pic>
        <p:nvPicPr>
          <p:cNvPr id="5" name="Image 0" descr="icon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97053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25296" y="1691640"/>
            <a:ext cx="12893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(Telegram)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606040" y="1691640"/>
            <a:ext cx="256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862072" y="169164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E3A5F"/>
          </a:solidFill>
          <a:ln w="12700">
            <a:solidFill>
              <a:srgbClr val="3E5A8C"/>
            </a:solidFill>
            <a:prstDash val="solid"/>
          </a:ln>
        </p:spPr>
      </p:sp>
      <p:pic>
        <p:nvPicPr>
          <p:cNvPr id="9" name="Image 1" descr="icons/bo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088" y="1970532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47288" y="1691640"/>
            <a:ext cx="16550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daemon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(WSL2, self-hosted)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193792" y="1691640"/>
            <a:ext cx="256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5449824" y="169164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1E3A5F"/>
          </a:solidFill>
          <a:ln w="12700">
            <a:solidFill>
              <a:srgbClr val="3E5A8C"/>
            </a:solidFill>
            <a:prstDash val="solid"/>
          </a:ln>
        </p:spPr>
      </p:sp>
      <p:pic>
        <p:nvPicPr>
          <p:cNvPr id="13" name="Image 2" descr="icons/filetex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97053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35040" y="1691640"/>
            <a:ext cx="18379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self-disclosure · gating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7964424" y="1691640"/>
            <a:ext cx="256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8220456" y="169164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1E3A5F"/>
          </a:solidFill>
          <a:ln w="12700">
            <a:solidFill>
              <a:srgbClr val="3E5A8C"/>
            </a:solidFill>
            <a:prstDash val="solid"/>
          </a:ln>
        </p:spPr>
      </p:sp>
      <p:pic>
        <p:nvPicPr>
          <p:cNvPr id="17" name="Image 3" descr="icons/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72" y="1970532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805672" y="1691640"/>
            <a:ext cx="18379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pay-session.mjs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engine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40080" y="3063240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16305C"/>
          </a:solidFill>
          <a:ln w="15875">
            <a:solidFill>
              <a:srgbClr val="C8102E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914400" y="319125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GOAT NETWORK MAINNET  ·  CHAIN 2345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914400" y="3593592"/>
            <a:ext cx="3337560" cy="749808"/>
          </a:xfrm>
          <a:prstGeom prst="roundRect">
            <a:avLst>
              <a:gd name="adj" fmla="val 8537"/>
            </a:avLst>
          </a:prstGeom>
          <a:solidFill>
            <a:srgbClr val="1E3A5F"/>
          </a:solidFill>
          <a:ln/>
        </p:spPr>
      </p:sp>
      <p:pic>
        <p:nvPicPr>
          <p:cNvPr id="22" name="Image 4" descr="icons/lin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3767328"/>
            <a:ext cx="402336" cy="40233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99616" y="3593592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D8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order API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D8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GoatX402Client(baseUrl)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4434840" y="3593592"/>
            <a:ext cx="3337560" cy="749808"/>
          </a:xfrm>
          <a:prstGeom prst="roundRect">
            <a:avLst>
              <a:gd name="adj" fmla="val 8537"/>
            </a:avLst>
          </a:prstGeom>
          <a:solidFill>
            <a:srgbClr val="1E3A5F"/>
          </a:solidFill>
          <a:ln/>
        </p:spPr>
      </p:sp>
      <p:pic>
        <p:nvPicPr>
          <p:cNvPr id="25" name="Image 5" descr="icons/creditcar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2856" y="3767328"/>
            <a:ext cx="402336" cy="40233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020056" y="3593592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D8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USDC.e ERC-20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D8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0x3022…12D8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7955280" y="3593592"/>
            <a:ext cx="3337560" cy="749808"/>
          </a:xfrm>
          <a:prstGeom prst="roundRect">
            <a:avLst>
              <a:gd name="adj" fmla="val 8537"/>
            </a:avLst>
          </a:prstGeom>
          <a:solidFill>
            <a:srgbClr val="1E3A5F"/>
          </a:solidFill>
          <a:ln/>
        </p:spPr>
      </p:sp>
      <p:pic>
        <p:nvPicPr>
          <p:cNvPr id="28" name="Image 6" descr="icons/shield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3296" y="3767328"/>
            <a:ext cx="402336" cy="40233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540496" y="3593592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D8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 registry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D8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ID 77</a:t>
            </a:r>
            <a:endParaRPr lang="en-US" sz="1000" dirty="0"/>
          </a:p>
        </p:txBody>
      </p:sp>
      <p:sp>
        <p:nvSpPr>
          <p:cNvPr id="30" name="Shape 21"/>
          <p:cNvSpPr/>
          <p:nvPr/>
        </p:nvSpPr>
        <p:spPr>
          <a:xfrm>
            <a:off x="640080" y="47091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/>
        </p:spPr>
      </p:sp>
      <p:sp>
        <p:nvSpPr>
          <p:cNvPr id="31" name="Shape 22"/>
          <p:cNvSpPr/>
          <p:nvPr/>
        </p:nvSpPr>
        <p:spPr>
          <a:xfrm>
            <a:off x="914400" y="4864608"/>
            <a:ext cx="594360" cy="59436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2" name="Image 7" descr="icons/check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8934" y="5019142"/>
            <a:ext cx="285293" cy="285293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691640" y="47091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confirmed payment 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study-pack pipeline runs (transcribe → OCR → LLM notes → merged PDF)  →  delivered to student in Telegram.</a:t>
            </a:r>
            <a:endParaRPr lang="en-US" sz="1400" dirty="0"/>
          </a:p>
        </p:txBody>
      </p:sp>
      <p:sp>
        <p:nvSpPr>
          <p:cNvPr id="34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AITCH — Pay-Per-Session AI Tutoring Agent</a:t>
            </a:r>
            <a:endParaRPr lang="en-US" sz="900" dirty="0"/>
          </a:p>
        </p:txBody>
      </p:sp>
      <p:sp>
        <p:nvSpPr>
          <p:cNvPr id="35" name="Text 25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on-chain proof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simulation — a real identity and a real settlement on GOAT mainnet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4297680"/>
          </a:xfrm>
          <a:prstGeom prst="roundRect">
            <a:avLst>
              <a:gd name="adj" fmla="val 1915"/>
            </a:avLst>
          </a:prstGeom>
          <a:solidFill>
            <a:srgbClr val="16305C"/>
          </a:solidFill>
          <a:ln/>
          <a:effectLst>
            <a:outerShdw sx="100000" sy="100000" kx="0" ky="0" algn="bl" rotWithShape="0" blurRad="127000" dist="38100" dir="5400000">
              <a:srgbClr val="16305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65960"/>
            <a:ext cx="658368" cy="65836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6" name="Image 0" descr="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296" y="213713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933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 AGENT IDENTITY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60120" y="24231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ID 77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960120" y="34290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7A8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60120" y="3666744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8004scan.io/agents/goat/77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60120" y="40507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7A8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(A / MERCHANT)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60120" y="4288536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0x09eE6329…DA7c6bF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960120" y="467258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7A8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TX BLOCK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60120" y="491032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12,913,833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960120" y="529437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7A8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ID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960120" y="553212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HarshilSuthar · DIRECT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989320" y="1691640"/>
            <a:ext cx="5577840" cy="4297680"/>
          </a:xfrm>
          <a:prstGeom prst="roundRect">
            <a:avLst>
              <a:gd name="adj" fmla="val 1915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6305C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09360" y="1965960"/>
            <a:ext cx="658368" cy="65836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9" name="Image 1" descr="icons/z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536" y="2137136"/>
            <a:ext cx="316017" cy="316017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32320" y="19933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SETTLEMENT — LIVE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309360" y="239572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USDC.e</a:t>
            </a:r>
            <a:pPr indent="0" marL="0">
              <a:buNone/>
            </a:pPr>
            <a:r>
              <a:rPr lang="en-US" sz="1600" dirty="0">
                <a:solidFill>
                  <a:srgbClr val="5B6B85"/>
                </a:solidFill>
              </a:rPr>
              <a:t>  settled B → A</a:t>
            </a:r>
            <a:endParaRPr lang="en-US" sz="4000" dirty="0"/>
          </a:p>
        </p:txBody>
      </p:sp>
      <p:sp>
        <p:nvSpPr>
          <p:cNvPr id="22" name="Text 18"/>
          <p:cNvSpPr/>
          <p:nvPr/>
        </p:nvSpPr>
        <p:spPr>
          <a:xfrm>
            <a:off x="6309360" y="336499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(B, STUDENT)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09360" y="360273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0xBB086b3b…adB7087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6309360" y="39319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(A, AITCH)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309360" y="4169664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0x09eE6329…DA7c6bF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6309360" y="449884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309360" y="473659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ERC20_DIRECT</a:t>
            </a:r>
            <a:endParaRPr lang="en-US" sz="1350" dirty="0"/>
          </a:p>
        </p:txBody>
      </p:sp>
      <p:sp>
        <p:nvSpPr>
          <p:cNvPr id="28" name="Text 24"/>
          <p:cNvSpPr/>
          <p:nvPr/>
        </p:nvSpPr>
        <p:spPr>
          <a:xfrm>
            <a:off x="6309360" y="506577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09360" y="530352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13,802,564</a:t>
            </a:r>
            <a:endParaRPr lang="en-US" sz="1350" dirty="0"/>
          </a:p>
        </p:txBody>
      </p:sp>
      <p:sp>
        <p:nvSpPr>
          <p:cNvPr id="30" name="Shape 26"/>
          <p:cNvSpPr/>
          <p:nvPr/>
        </p:nvSpPr>
        <p:spPr>
          <a:xfrm>
            <a:off x="6309360" y="5504688"/>
            <a:ext cx="50292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446520" y="550468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9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transfer irreversible &amp; confirmed. Order-indexer reconciliation lagged the poll window — handled by the engine's timeout branch, not a failure.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AITCH — Pay-Per-Session AI Tutoring Agent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status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state — labelled DONE, OPEN, or DRAFT, not oversold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516636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594360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 identity (Agent ID 77)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949440" y="1812798"/>
            <a:ext cx="1051560" cy="274320"/>
          </a:xfrm>
          <a:prstGeom prst="roundRect">
            <a:avLst>
              <a:gd name="adj" fmla="val 16667"/>
            </a:avLst>
          </a:prstGeom>
          <a:solidFill>
            <a:srgbClr val="16305C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181279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138160" y="1691640"/>
            <a:ext cx="352044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on GOAT mainnet, verifiable on 8004scan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2208276"/>
            <a:ext cx="594360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live settlement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949440" y="2329434"/>
            <a:ext cx="1051560" cy="274320"/>
          </a:xfrm>
          <a:prstGeom prst="roundRect">
            <a:avLst>
              <a:gd name="adj" fmla="val 16667"/>
            </a:avLst>
          </a:prstGeom>
          <a:solidFill>
            <a:srgbClr val="16305C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0" y="2329434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138160" y="2208276"/>
            <a:ext cx="352044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1 USDC.e transfer settled on-chain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724912"/>
            <a:ext cx="10881360" cy="516636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724912"/>
            <a:ext cx="594360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engine (pay-session.mjs)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949440" y="2846070"/>
            <a:ext cx="1051560" cy="274320"/>
          </a:xfrm>
          <a:prstGeom prst="roundRect">
            <a:avLst>
              <a:gd name="adj" fmla="val 16667"/>
            </a:avLst>
          </a:prstGeom>
          <a:solidFill>
            <a:srgbClr val="16305C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284607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138160" y="2724912"/>
            <a:ext cx="352044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guardrail, dry-run default, timeout branch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8680" y="3241548"/>
            <a:ext cx="594360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Two-wallet model (payer ≠ merchant)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949440" y="3362706"/>
            <a:ext cx="1051560" cy="274320"/>
          </a:xfrm>
          <a:prstGeom prst="roundRect">
            <a:avLst>
              <a:gd name="adj" fmla="val 16667"/>
            </a:avLst>
          </a:prstGeom>
          <a:solidFill>
            <a:srgbClr val="16305C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3362706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138160" y="3241548"/>
            <a:ext cx="352044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+ diagnostics scripts included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758184"/>
            <a:ext cx="10881360" cy="516636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3758184"/>
            <a:ext cx="594360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Study-pack pipeline (CPOL507)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49440" y="3879342"/>
            <a:ext cx="1051560" cy="274320"/>
          </a:xfrm>
          <a:prstGeom prst="roundRect">
            <a:avLst>
              <a:gd name="adj" fmla="val 16667"/>
            </a:avLst>
          </a:prstGeom>
          <a:solidFill>
            <a:srgbClr val="16305C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387934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138160" y="3758184"/>
            <a:ext cx="352044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GitHub Actions in a private repo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68680" y="4274820"/>
            <a:ext cx="594360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SKILL.md state machine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949440" y="4395978"/>
            <a:ext cx="1051560" cy="274320"/>
          </a:xfrm>
          <a:prstGeom prst="roundRect">
            <a:avLst>
              <a:gd name="adj" fmla="val 16667"/>
            </a:avLst>
          </a:prstGeom>
          <a:solidFill>
            <a:srgbClr val="C8102E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0" y="439597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38160" y="4274820"/>
            <a:ext cx="352044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 designed; disclosure + order wiring in progress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" y="4791456"/>
            <a:ext cx="10881360" cy="516636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4791456"/>
            <a:ext cx="594360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HEARTBEAT.md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949440" y="4912614"/>
            <a:ext cx="1051560" cy="274320"/>
          </a:xfrm>
          <a:prstGeom prst="roundRect">
            <a:avLst>
              <a:gd name="adj" fmla="val 16667"/>
            </a:avLst>
          </a:prstGeom>
          <a:solidFill>
            <a:srgbClr val="E4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6949440" y="4912614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138160" y="4791456"/>
            <a:ext cx="352044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by design — health + spend-cap reset only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68680" y="5308092"/>
            <a:ext cx="594360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Order↔payment reconciliation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949440" y="5429250"/>
            <a:ext cx="1051560" cy="274320"/>
          </a:xfrm>
          <a:prstGeom prst="roundRect">
            <a:avLst>
              <a:gd name="adj" fmla="val 16667"/>
            </a:avLst>
          </a:prstGeom>
          <a:solidFill>
            <a:srgbClr val="C8102E"/>
          </a:solidFill>
          <a:ln/>
        </p:spPr>
      </p:sp>
      <p:sp>
        <p:nvSpPr>
          <p:cNvPr id="38" name="Text 36"/>
          <p:cNvSpPr/>
          <p:nvPr/>
        </p:nvSpPr>
        <p:spPr>
          <a:xfrm>
            <a:off x="6949440" y="542925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138160" y="5308092"/>
            <a:ext cx="352044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settles; indexer linkage still lagging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AITCH — Pay-Per-Session AI Tutoring Agent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users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deliverable — a narrow wedge, on purpose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6305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47088"/>
            <a:ext cx="731520" cy="73152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6" name="Image 0" descr="icon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595" y="2037283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600200"/>
            <a:ext cx="9464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students in lecture-heavy courses whose professors distribute lecture audio (.m4a) and slide decks (.pptx) separately, week after week — who currently rebuild that into usable notes by hand.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3063240"/>
            <a:ext cx="3447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0080" y="3392424"/>
            <a:ext cx="34472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Toronto Metropolitan University — starting with the builder's own program and course cohort.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43400" y="3063240"/>
            <a:ext cx="3447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CASE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343400" y="3392424"/>
            <a:ext cx="34472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CPOL507 — instructor posts weekly .m4a recordings alongside image-only .pptx slides.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046720" y="3063240"/>
            <a:ext cx="3447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046720" y="3392424"/>
            <a:ext cx="34472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from recordings, not a clean textbook; manually transcribe and cross-reference slides today.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4526280"/>
            <a:ext cx="7360920" cy="14630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4663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ideal early adopter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8680" y="4956048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Pain is acute and weekly — fast feedback, fast repeat-purchase signal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Users already hold the exact inputs Aitch needs — no data-access dead end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Pay-per-session removes the subscription barrier that keeps this group out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183880" y="4526280"/>
            <a:ext cx="3337560" cy="1463040"/>
          </a:xfrm>
          <a:prstGeom prst="roundRect">
            <a:avLst>
              <a:gd name="adj" fmla="val 5000"/>
            </a:avLst>
          </a:prstGeom>
          <a:solidFill>
            <a:srgbClr val="C8102E"/>
          </a:solidFill>
          <a:ln/>
        </p:spPr>
      </p:sp>
      <p:sp>
        <p:nvSpPr>
          <p:cNvPr id="18" name="Text 15"/>
          <p:cNvSpPr/>
          <p:nvPr/>
        </p:nvSpPr>
        <p:spPr>
          <a:xfrm>
            <a:off x="8183880" y="4590288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10–20</a:t>
            </a:r>
            <a:endParaRPr lang="en-US" sz="3800" dirty="0"/>
          </a:p>
        </p:txBody>
      </p:sp>
      <p:sp>
        <p:nvSpPr>
          <p:cNvPr id="19" name="Text 16"/>
          <p:cNvSpPr/>
          <p:nvPr/>
        </p:nvSpPr>
        <p:spPr>
          <a:xfrm>
            <a:off x="8366760" y="5285232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FC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users targeted for Stage 2 validation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AITCH — Pay-Per-Session AI Tutoring Agent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metrics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deliverable — what we track through Stage 2, and why it isn't a vanity number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6305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56232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6" name="Image 0" descr="icons/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022653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AB8D4"/>
                </a:solidFill>
              </a:rPr>
              <a:t>NORTH STAR   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783080" y="1993392"/>
            <a:ext cx="9464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study-pack sessions per week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counted only when x402 payment settles on-chain AND a pack is delivered.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40080" y="2971800"/>
            <a:ext cx="2606040" cy="2971800"/>
          </a:xfrm>
          <a:prstGeom prst="roundRect">
            <a:avLst>
              <a:gd name="adj" fmla="val 3158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6305C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96112" y="3227832"/>
            <a:ext cx="566928" cy="566928"/>
          </a:xfrm>
          <a:prstGeom prst="ellipse">
            <a:avLst/>
          </a:prstGeom>
          <a:solidFill>
            <a:srgbClr val="16305C"/>
          </a:solidFill>
          <a:ln/>
        </p:spPr>
      </p:sp>
      <p:pic>
        <p:nvPicPr>
          <p:cNvPr id="11" name="Image 1" descr="icons/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13" y="337523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96112" y="3931920"/>
            <a:ext cx="2093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RATE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896112" y="4343400"/>
            <a:ext cx="20939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50%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896112" y="4983480"/>
            <a:ext cx="20939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onboarded users complete a paid session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447288" y="2971800"/>
            <a:ext cx="2606040" cy="2971800"/>
          </a:xfrm>
          <a:prstGeom prst="roundRect">
            <a:avLst>
              <a:gd name="adj" fmla="val 3158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6305C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703320" y="3227832"/>
            <a:ext cx="566928" cy="566928"/>
          </a:xfrm>
          <a:prstGeom prst="ellipse">
            <a:avLst/>
          </a:prstGeom>
          <a:solidFill>
            <a:srgbClr val="16305C"/>
          </a:solidFill>
          <a:ln/>
        </p:spPr>
      </p:sp>
      <p:pic>
        <p:nvPicPr>
          <p:cNvPr id="17" name="Image 2" descr="icons/repea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0721" y="3375233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703320" y="3931920"/>
            <a:ext cx="2093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RETURN RATE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3703320" y="4343400"/>
            <a:ext cx="20939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40%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3703320" y="4983480"/>
            <a:ext cx="20939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truest PMF signal — pain is weekly, so return is weekly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254496" y="2971800"/>
            <a:ext cx="2606040" cy="2971800"/>
          </a:xfrm>
          <a:prstGeom prst="roundRect">
            <a:avLst>
              <a:gd name="adj" fmla="val 3158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6305C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10528" y="3227832"/>
            <a:ext cx="566928" cy="566928"/>
          </a:xfrm>
          <a:prstGeom prst="ellipse">
            <a:avLst/>
          </a:prstGeom>
          <a:solidFill>
            <a:srgbClr val="16305C"/>
          </a:solidFill>
          <a:ln/>
        </p:spPr>
      </p:sp>
      <p:pic>
        <p:nvPicPr>
          <p:cNvPr id="23" name="Image 3" descr="icons/trending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7929" y="3375233"/>
            <a:ext cx="272125" cy="27212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510528" y="3931920"/>
            <a:ext cx="2093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/ USER / WEEK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6510528" y="4343400"/>
            <a:ext cx="20939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1.0</a:t>
            </a:r>
            <a:endParaRPr lang="en-US" sz="3000" dirty="0"/>
          </a:p>
        </p:txBody>
      </p:sp>
      <p:sp>
        <p:nvSpPr>
          <p:cNvPr id="26" name="Text 20"/>
          <p:cNvSpPr/>
          <p:nvPr/>
        </p:nvSpPr>
        <p:spPr>
          <a:xfrm>
            <a:off x="6510528" y="4983480"/>
            <a:ext cx="20939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distinguishes a one-off from a study habit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9061704" y="2971800"/>
            <a:ext cx="2606040" cy="2971800"/>
          </a:xfrm>
          <a:prstGeom prst="roundRect">
            <a:avLst>
              <a:gd name="adj" fmla="val 3158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6305C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9317736" y="3227832"/>
            <a:ext cx="566928" cy="566928"/>
          </a:xfrm>
          <a:prstGeom prst="ellipse">
            <a:avLst/>
          </a:prstGeom>
          <a:solidFill>
            <a:srgbClr val="16305C"/>
          </a:solidFill>
          <a:ln/>
        </p:spPr>
      </p:sp>
      <p:pic>
        <p:nvPicPr>
          <p:cNvPr id="29" name="Image 4" descr="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5137" y="3375233"/>
            <a:ext cx="272125" cy="27212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317736" y="3931920"/>
            <a:ext cx="2093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/ SESSION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9317736" y="4343400"/>
            <a:ext cx="20939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</a:t>
            </a:r>
            <a:endParaRPr lang="en-US" sz="3000" dirty="0"/>
          </a:p>
        </p:txBody>
      </p:sp>
      <p:sp>
        <p:nvSpPr>
          <p:cNvPr id="32" name="Text 25"/>
          <p:cNvSpPr/>
          <p:nvPr/>
        </p:nvSpPr>
        <p:spPr>
          <a:xfrm>
            <a:off x="9317736" y="4983480"/>
            <a:ext cx="20939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pricing tier, from day one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AITCH — Pay-Per-Session AI Tutoring Agent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discipline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 real payment agent needs — not a hackathon shortcut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877824" y="1929384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6" name="Image 0" descr="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2072030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77824" y="2606040"/>
            <a:ext cx="3044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brain vs. engine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77824" y="2990088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orchestrates conversation only. All money movement lives in a deterministic Node engine — the LLM never holds a key.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79976" y="1691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1E3A5F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1929384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1" name="Image 1" descr="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366" y="2072030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606040"/>
            <a:ext cx="3044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Two-tier confirmation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17720" y="2990088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below 0.1 USDC.e; above that, an explicit typed CONFIRM PAYMENT. The engine also requires a separate --confirm flag.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19872" y="1691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1E3A5F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7616" y="1929384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6" name="Image 2" descr="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262" y="2072030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606040"/>
            <a:ext cx="3044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Payer ≠ merchant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57616" y="2990088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distinct wallets, always. Scripts assert this and refuse to run on a self-payment path.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858768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1E3A5F"/>
          </a:solidFill>
          <a:ln/>
        </p:spPr>
      </p:sp>
      <p:sp>
        <p:nvSpPr>
          <p:cNvPr id="20" name="Shape 15"/>
          <p:cNvSpPr/>
          <p:nvPr/>
        </p:nvSpPr>
        <p:spPr>
          <a:xfrm>
            <a:off x="877824" y="4096512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1" name="Image 3" descr="icons/ale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470" y="4239158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77824" y="4773168"/>
            <a:ext cx="3044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 is a branch, not an error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77824" y="5157216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timeout: report order status, never send a second transfer, route reconciliation to the portal.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79976" y="3858768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1E3A5F"/>
          </a:solidFill>
          <a:ln/>
        </p:spPr>
      </p:sp>
      <p:sp>
        <p:nvSpPr>
          <p:cNvPr id="25" name="Shape 19"/>
          <p:cNvSpPr/>
          <p:nvPr/>
        </p:nvSpPr>
        <p:spPr>
          <a:xfrm>
            <a:off x="4617720" y="4096512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6" name="Image 4" descr="icons/creditcar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366" y="4239158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7720" y="4773168"/>
            <a:ext cx="3044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Allow-listed settlement flow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17720" y="5157216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ERC20_DIRECT auto-executes. Unsupported flows halt loudly instead of guessing a signature.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19872" y="3858768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1E3A5F"/>
          </a:solidFill>
          <a:ln/>
        </p:spPr>
      </p:sp>
      <p:sp>
        <p:nvSpPr>
          <p:cNvPr id="30" name="Shape 23"/>
          <p:cNvSpPr/>
          <p:nvPr/>
        </p:nvSpPr>
        <p:spPr>
          <a:xfrm>
            <a:off x="8357616" y="4096512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1" name="Image 5" descr="icons/zap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0262" y="4239158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7616" y="4773168"/>
            <a:ext cx="3044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 never touch the model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57616" y="5157216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load from process.env into the daemon at startup; spend caps enforced in code, not conversation.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AITCH — Pay-Per-Session AI Tutoring Agent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206240"/>
            <a:ext cx="5943600" cy="5943600"/>
          </a:xfrm>
          <a:prstGeom prst="ellipse">
            <a:avLst/>
          </a:prstGeom>
          <a:solidFill>
            <a:srgbClr val="16305C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70432" y="1325880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Live-wire the tutoring SKILL.md against the tested pay-session.mjs loop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8379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37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70432" y="183794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a thin HEARTBEAT.md — health + spend-cap reset, off the payment path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3500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50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70432" y="2350008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one order to PAYMENT_CONFIRMED — close the indexer-reconciliation gap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28620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62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70432" y="2862072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ERC-8004 Agent Card in buyer language for agent-to-agent discovery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3741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8102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741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70432" y="3374136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10–20 user seed pilot toward Stage 2 validation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10881360" cy="2148840"/>
          </a:xfrm>
          <a:prstGeom prst="roundRect">
            <a:avLst>
              <a:gd name="adj" fmla="val 3830"/>
            </a:avLst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1605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</a:t>
            </a:r>
            <a:endParaRPr lang="en-US" sz="1200" dirty="0"/>
          </a:p>
        </p:txBody>
      </p:sp>
      <p:pic>
        <p:nvPicPr>
          <p:cNvPr id="21" name="Image 0" descr="icons/link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599432"/>
            <a:ext cx="329184" cy="32918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371600" y="4572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97764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github.com/Harshil-212369/pay-per-session-tutoring-agent</a:t>
            </a:r>
            <a:endParaRPr lang="en-US" sz="1300" dirty="0"/>
          </a:p>
        </p:txBody>
      </p:sp>
      <p:pic>
        <p:nvPicPr>
          <p:cNvPr id="24" name="Image 1" descr="icons/bot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02352"/>
            <a:ext cx="329184" cy="32918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371600" y="5074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BOT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3977640" y="5074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t.me/harshils_hackathon_claw_bot  —  send /start</a:t>
            </a:r>
            <a:endParaRPr lang="en-US" sz="1300" dirty="0"/>
          </a:p>
        </p:txBody>
      </p:sp>
      <p:pic>
        <p:nvPicPr>
          <p:cNvPr id="27" name="Image 2" descr="icons/shield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605272"/>
            <a:ext cx="329184" cy="32918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371600" y="5577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IDENTITY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3977640" y="5577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8004scan.io/agents/goat/77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AITCH — Pay-Per-Session AI Tutoring Agent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2026-07-18T02:25:15Z</dcterms:created>
  <dcterms:modified xsi:type="dcterms:W3CDTF">2026-07-18T02:25:15Z</dcterms:modified>
</cp:coreProperties>
</file>